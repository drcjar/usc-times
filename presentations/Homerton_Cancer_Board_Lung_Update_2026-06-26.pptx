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Lung Cancer Services at Homerton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r>
              <a:rPr sz="2000"/>
              <a:t>Urgent pathway performance, screening readiness &amp; research</a:t>
            </a:r>
          </a:p>
          <a:p>
            <a:r>
              <a:rPr sz="1800"/>
              <a:t>Dr Carl Reynolds  ·  Lung Cancer Lead</a:t>
            </a:r>
          </a:p>
          <a:p>
            <a:r>
              <a:rPr sz="1800"/>
              <a:t>Trust Cancer Board  ·  26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I'll cover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1800"/>
              <a:t>Building on strong foundations — with thanks to Dr Bhowmik</a:t>
            </a:r>
          </a:p>
          <a:p>
            <a:pPr/>
            <a:r>
              <a:rPr b="0" sz="1800"/>
              <a:t>Our urgent suspected cancer (USC) lung pathway — redesign &amp; results</a:t>
            </a:r>
          </a:p>
          <a:p>
            <a:pPr/>
            <a:r>
              <a:rPr b="0" sz="1800"/>
              <a:t>Latest data, and how we compare nationally</a:t>
            </a:r>
          </a:p>
          <a:p>
            <a:pPr/>
            <a:r>
              <a:rPr b="0" sz="1800"/>
              <a:t>Recognition: ERS 2026 abstract accepted</a:t>
            </a:r>
          </a:p>
          <a:p>
            <a:pPr/>
            <a:r>
              <a:rPr b="0" sz="1800"/>
              <a:t>Strengthening the service — SOP, digital tools, MDT &amp; pathway</a:t>
            </a:r>
          </a:p>
          <a:p>
            <a:pPr/>
            <a:r>
              <a:rPr b="0" sz="1800"/>
              <a:t>Pressures we're escalating</a:t>
            </a:r>
          </a:p>
          <a:p>
            <a:pPr/>
            <a:r>
              <a:rPr b="0" sz="1800"/>
              <a:t>Lung cancer screening — coming to Hackney</a:t>
            </a:r>
          </a:p>
          <a:p>
            <a:pPr/>
            <a:r>
              <a:rPr b="0" sz="1800"/>
              <a:t>Occupational research, goals, and what I'd ask of the 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Homerton lung service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1800"/>
              <a:t>~10 urgent suspected lung cancer referrals per week</a:t>
            </a:r>
          </a:p>
          <a:p>
            <a:pPr/>
            <a:r>
              <a:rPr b="0" sz="1800"/>
              <a:t>~2 new lung cancer diagnoses per week (~100 per year)</a:t>
            </a:r>
          </a:p>
          <a:p>
            <a:pPr/>
            <a:r>
              <a:rPr b="0" sz="1800"/>
              <a:t>28-day Faster Diagnosis Standard (FDS) is the key target</a:t>
            </a:r>
          </a:p>
          <a:p>
            <a:pPr/>
            <a:r>
              <a:rPr b="0" sz="1800"/>
              <a:t>Physicians: Dr Reynolds (lead), Dr Bhowmik, Dr Raluca, Dr Callum (locum)</a:t>
            </a:r>
          </a:p>
          <a:p>
            <a:pPr/>
            <a:r>
              <a:rPr b="0" sz="1800"/>
              <a:t>Thoracic radiology: Dr Sayan, Dr Shritika (locum)</a:t>
            </a:r>
          </a:p>
          <a:p>
            <a:pPr/>
            <a:r>
              <a:rPr b="0" sz="1800"/>
              <a:t>Lung CNS: Beatrice &amp; Katherine; Macmillan support worker Shanez</a:t>
            </a:r>
          </a:p>
          <a:p>
            <a:pPr/>
            <a:r>
              <a:rPr b="0" sz="1800"/>
              <a:t>MDT coordinator: Jaan Begum; respiratory secretary: John</a:t>
            </a:r>
          </a:p>
          <a:p>
            <a:pPr/>
            <a:r>
              <a:rPr b="1" sz="1800"/>
              <a:t>Small, single-site team — agility is our advantage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set out to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USC lung pathways are complex and often miss the FDS</a:t>
            </a:r>
          </a:p>
          <a:p>
            <a:pPr/>
            <a:r>
              <a:rPr b="0" sz="2000"/>
              <a:t>Traditional pathway: multiple appointments, routine bloods, CXR, contrast &amp; abdominal imaging</a:t>
            </a:r>
          </a:p>
          <a:p>
            <a:pPr/>
            <a:r>
              <a:rPr b="0" sz="2000"/>
              <a:t>Delay and waste before patients reach definitive CT</a:t>
            </a:r>
          </a:p>
          <a:p>
            <a:pPr/>
            <a:r>
              <a:rPr b="0" sz="2000"/>
              <a:t>Nationally (NLCA 2026): median referral to surgery 81 days; referral to systemic therapy 63 days</a:t>
            </a:r>
          </a:p>
          <a:p>
            <a:pPr/>
            <a:r>
              <a:rPr b="0" sz="2000"/>
              <a:t>32% of lung cancers still diagnosed after emergency admission</a:t>
            </a:r>
          </a:p>
          <a:p>
            <a:pPr/>
            <a:r>
              <a:rPr b="1" sz="2000"/>
              <a:t>Our aim: early diagnosis, clear communication, avoidance of waste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streamlined USC pathway (August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Co-designed with patients and clinicians</a:t>
            </a:r>
          </a:p>
          <a:p>
            <a:pPr/>
            <a:r>
              <a:rPr b="0" sz="2000"/>
              <a:t>Upfront lung cancer consultant triage of every referral</a:t>
            </a:r>
          </a:p>
          <a:p>
            <a:pPr/>
            <a:r>
              <a:rPr b="0" sz="2000"/>
              <a:t>Straight-to-CT as the first definitive investigation</a:t>
            </a:r>
          </a:p>
          <a:p>
            <a:pPr/>
            <a:r>
              <a:rPr b="0" sz="2000"/>
              <a:t>By default: no bloods, no CXR, no contrast, no abdominal imaging</a:t>
            </a:r>
          </a:p>
          <a:p>
            <a:pPr/>
            <a:r>
              <a:rPr b="0" sz="2000"/>
              <a:t>By default: no routine follow-up appointment</a:t>
            </a:r>
          </a:p>
          <a:p>
            <a:pPr/>
            <a:r>
              <a:rPr b="1" sz="2000"/>
              <a:t>A shorter pathway, with fewer visits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before vs after the SOP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55448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645920"/>
                <a:gridCol w="1645920"/>
              </a:tblGrid>
              <a:tr h="483325">
                <a:tc>
                  <a:txBody>
                    <a:bodyPr/>
                    <a:lstStyle/>
                    <a:p>
                      <a:r>
                        <a:rPr sz="1400" b="1"/>
                        <a:t>Outcome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Pre-SOP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Post-SOP</a:t>
                      </a:r>
                    </a:p>
                  </a:txBody>
                  <a:tcPr marT="25400" marB="25400"/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400"/>
                        <a:t>Completed pathways (n)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102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185</a:t>
                      </a:r>
                    </a:p>
                  </a:txBody>
                  <a:tcPr marT="25400" marB="25400"/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400"/>
                        <a:t>Median time to pathway completion (days)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18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16.5</a:t>
                      </a:r>
                    </a:p>
                  </a:txBody>
                  <a:tcPr marT="25400" marB="25400"/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400"/>
                        <a:t>Pathways completed within 28 days (FDS)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77.1%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80.5%</a:t>
                      </a:r>
                    </a:p>
                  </a:txBody>
                  <a:tcPr marT="25400" marB="25400"/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400"/>
                        <a:t>Median time to CT chest (days)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15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5.5</a:t>
                      </a:r>
                    </a:p>
                  </a:txBody>
                  <a:tcPr marT="25400" marB="25400"/>
                </a:tc>
              </a:tr>
              <a:tr h="483325">
                <a:tc>
                  <a:txBody>
                    <a:bodyPr/>
                    <a:lstStyle/>
                    <a:p>
                      <a:r>
                        <a:rPr sz="1400"/>
                        <a:t>CT chest within 7 days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5%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68.7%</a:t>
                      </a:r>
                    </a:p>
                  </a:txBody>
                  <a:tcPr marT="25400" marB="25400"/>
                </a:tc>
              </a:tr>
              <a:tr h="483330">
                <a:tc>
                  <a:txBody>
                    <a:bodyPr/>
                    <a:lstStyle/>
                    <a:p>
                      <a:r>
                        <a:rPr sz="1400"/>
                        <a:t>Median outpatient attendances per pathway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</a:t>
                      </a:r>
                    </a:p>
                  </a:txBody>
                  <a:tcPr marT="25400" marB="254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1</a:t>
                      </a:r>
                    </a:p>
                  </a:txBody>
                  <a:tcPr marT="25400" marB="25400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/>
              <a:t>Time to CT cut from 15 to 5.5 days; CT within 7 days up from 5% to 69% — no increase in appointments, no adverse impact on cancer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to CT has fallen — and stayed down</a:t>
            </a:r>
          </a:p>
        </p:txBody>
      </p:sp>
      <p:pic>
        <p:nvPicPr>
          <p:cNvPr id="3" name="Picture 2" descr="referral_to_ct_tre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7040880" cy="348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/>
              <a:t>Rolling median time to CT down from ~15 days (mid-2025) to at or below the 7-day NOLCP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data: sustained FDS performance</a:t>
            </a:r>
          </a:p>
        </p:txBody>
      </p:sp>
      <p:pic>
        <p:nvPicPr>
          <p:cNvPr id="3" name="Picture 2" descr="fds_attain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4343400" cy="2143914"/>
          </a:xfrm>
          <a:prstGeom prst="rect">
            <a:avLst/>
          </a:prstGeom>
        </p:spPr>
      </p:pic>
      <p:pic>
        <p:nvPicPr>
          <p:cNvPr id="4" name="Picture 3" descr="trend_in_fd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28800"/>
            <a:ext cx="4343400" cy="2143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/>
              <a:t>N = 442 to May 2026. Daily FDS attainment now consistently above 80%; median days-to-FDS well inside the 28-day target — improvement has been maintained.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compare nationally (NLCA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Homerton: referral to CT 5.5 days; CT within 7 days ~69%; FDS within 28 days ~80%</a:t>
            </a:r>
          </a:p>
          <a:p>
            <a:pPr/>
            <a:r>
              <a:rPr b="0" sz="2000"/>
              <a:t>National median referral to surgery 81 days; referral to systemic therapy 63 days</a:t>
            </a:r>
          </a:p>
          <a:p>
            <a:pPr/>
            <a:r>
              <a:rPr b="0" sz="2000"/>
              <a:t>39,409 people diagnosed with lung cancer in England in 2024</a:t>
            </a:r>
          </a:p>
          <a:p>
            <a:pPr/>
            <a:r>
              <a:rPr b="0" sz="2000"/>
              <a:t>40.2% diagnosed at stage 1-2 (up from 35.5% in 2023) — driven by screening</a:t>
            </a:r>
          </a:p>
          <a:p>
            <a:pPr/>
            <a:r>
              <a:rPr b="0" sz="2000"/>
              <a:t>32% diagnosed after emergency admission; 1-year survival 50.7%</a:t>
            </a:r>
          </a:p>
          <a:p>
            <a:pPr/>
            <a:r>
              <a:rPr b="1" sz="2000"/>
              <a:t>National data gaps: smoking status 45.7%, LCNS contact 64.2% — a chance for us to lead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recognition: ERS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200"/>
              <a:t>Abstract accepted for the European Respiratory Society Congress 2026</a:t>
            </a:r>
          </a:p>
          <a:p>
            <a:pPr lvl="1"/>
            <a:r>
              <a:rPr b="0" sz="1900"/>
              <a:t>“Impact of a co-designed streamlined urgent suspected lung cancer pathway on time to diagnosis, investigation, and appointment burden”</a:t>
            </a:r>
          </a:p>
          <a:p>
            <a:pPr/>
            <a:r>
              <a:rPr b="0" sz="2200"/>
              <a:t>Homerton's pathway redesign on an international stage</a:t>
            </a:r>
          </a:p>
          <a:p>
            <a:pPr/>
            <a:r>
              <a:rPr b="0" sz="2200"/>
              <a:t>Analysis is open and reproducible: github.com/drcjar/usc-times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a lung cancer MDT SOP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Building on our approved SOPs: USC referral SOP v1.3 and CT-guided lung biopsy SOP</a:t>
            </a:r>
          </a:p>
          <a:p>
            <a:pPr/>
            <a:r>
              <a:rPr b="0" sz="2000"/>
              <a:t>Developing a single MDT operational policy and service specification</a:t>
            </a:r>
          </a:p>
          <a:p>
            <a:pPr/>
            <a:r>
              <a:rPr b="0" sz="2000"/>
              <a:t>Covers MDT membership &amp; meetings, referral, the streamlined USC pathway, diagnostics, treatment &amp; onward referral, CNS/key-worker, audit</a:t>
            </a:r>
          </a:p>
          <a:p>
            <a:pPr/>
            <a:r>
              <a:rPr b="0" sz="2000"/>
              <a:t>Adapted to our single-site service and the City &amp; Hackney population</a:t>
            </a:r>
          </a:p>
          <a:p>
            <a:pPr/>
            <a:r>
              <a:rPr b="0" sz="2000"/>
              <a:t>Aligns with the National Optimal Lung Cancer Pathway (NOLCP) and NICE QS17</a:t>
            </a:r>
          </a:p>
          <a:p>
            <a:pPr/>
            <a:r>
              <a:rPr b="1" sz="2000"/>
              <a:t>First draft ready to share — I'd welcome the Board's support to develop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innovation &amp; safer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200"/>
              <a:t>Lung follow-up app — built in-house (carlreynolds.net/lung-followup-app/)</a:t>
            </a:r>
          </a:p>
          <a:p>
            <a:pPr/>
            <a:r>
              <a:rPr b="0" sz="2200"/>
              <a:t>With radiology: standardised wording of follow-up recommendations</a:t>
            </a:r>
          </a:p>
          <a:p>
            <a:pPr/>
            <a:r>
              <a:rPr b="0" sz="2200"/>
              <a:t>Autotext for abnormal chest radiographs — consistent reporting and onward action</a:t>
            </a:r>
          </a:p>
          <a:p>
            <a:pPr/>
            <a:r>
              <a:rPr b="0" sz="2200"/>
              <a:t>Autotext for pulmonary nodules — standardised surveillance advice</a:t>
            </a:r>
          </a:p>
          <a:p>
            <a:pPr/>
            <a:r>
              <a:rPr b="1" sz="2200"/>
              <a:t>Next step: an automated nodule registry — reduce loss to follow-up, improve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Strengthening the MDT and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1" sz="1800"/>
              <a:t>Working well:</a:t>
            </a:r>
          </a:p>
          <a:p>
            <a:pPr/>
            <a:r>
              <a:rPr b="0" sz="1800"/>
              <a:t>CNS-led wash-up meetings to ensure MDT-planned actions are actioned</a:t>
            </a:r>
          </a:p>
          <a:p>
            <a:pPr/>
            <a:r>
              <a:rPr b="0" sz="1800"/>
              <a:t>Improved treatment-MDT proforma — better content and completeness</a:t>
            </a:r>
          </a:p>
          <a:p>
            <a:pPr/>
            <a:r>
              <a:rPr b="0" sz="1800"/>
              <a:t>Streamlined diagnostic MDT by screening cases before the meeting</a:t>
            </a:r>
          </a:p>
          <a:p>
            <a:pPr/>
            <a:r>
              <a:rPr b="1" sz="1800"/>
              <a:t>Still refining:</a:t>
            </a:r>
          </a:p>
          <a:p>
            <a:pPr/>
            <a:r>
              <a:rPr b="0" sz="1800"/>
              <a:t>Ensure the first outpatient appointment occurs after CT chest, not before</a:t>
            </a:r>
          </a:p>
          <a:p>
            <a:pPr/>
            <a:r>
              <a:rPr b="0" sz="1800"/>
              <a:t>Push time-to-CT even lower</a:t>
            </a:r>
          </a:p>
          <a:p>
            <a:pPr/>
            <a:r>
              <a:rPr b="0" sz="1800"/>
              <a:t>Formalise vetting cover when the primary vetter is on leave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Pressures we're escalating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200"/>
              <a:t>Robotic bronchoscopy: access delays affecting the diagnostic pathway — escalated and under ongoing monitoring</a:t>
            </a:r>
          </a:p>
          <a:p>
            <a:pPr/>
            <a:r>
              <a:rPr b="0" sz="2200"/>
              <a:t>Radiology USC upgrades scheduled 7+ days out by default — we need 72h for vetted referrals</a:t>
            </a:r>
          </a:p>
          <a:p>
            <a:pPr/>
            <a:r>
              <a:rPr b="0" sz="2200"/>
              <a:t>Histopathology turnaround (~40% within 10 days) — a shared risk as volumes rise</a:t>
            </a:r>
          </a:p>
          <a:p>
            <a:pPr/>
            <a:r>
              <a:rPr b="0" sz="2200"/>
              <a:t>Screening-driven demand ahead — capacity planning underway</a:t>
            </a:r>
          </a:p>
          <a:p>
            <a:pPr/>
            <a:r>
              <a:rPr b="1" sz="2200"/>
              <a:t>Approach: surface risks early, monitor, and escalate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Lung cancer screening is coming to Hackney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NHS England Lung Cancer Screening Programme (formerly Targeted Lung Health Checks)</a:t>
            </a:r>
          </a:p>
          <a:p>
            <a:pPr/>
            <a:r>
              <a:rPr b="0" sz="2000"/>
              <a:t>Low-dose CT for people aged 55-74 who have ever smoked and meet a risk threshold</a:t>
            </a:r>
          </a:p>
          <a:p>
            <a:pPr/>
            <a:r>
              <a:rPr b="0" sz="2000"/>
              <a:t>Expected in City &amp; Hackney in Q4 2026 / Q1 2027, delivered at high volume</a:t>
            </a:r>
          </a:p>
          <a:p>
            <a:pPr/>
            <a:r>
              <a:rPr b="0" sz="2000"/>
              <a:t>Evidence (Lee et al., Nature Medicine 2026): 2M+ invited, 7,193 cancers, 63.1% at stage 1, ~76% stage 1-2</a:t>
            </a:r>
          </a:p>
          <a:p>
            <a:pPr/>
            <a:r>
              <a:rPr b="0" sz="2000"/>
              <a:t>Proven to cut lung-cancer and all-cause mortality by finding disease early</a:t>
            </a:r>
          </a:p>
          <a:p>
            <a:pPr/>
            <a:r>
              <a:rPr b="1" sz="2000"/>
              <a:t>Biggest early-stage gains seen in the most deprived communities — highly relevant to East London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screening means for Homerton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000"/>
              <a:t>City &amp; Hackney eligible population ~39,500</a:t>
            </a:r>
          </a:p>
          <a:p>
            <a:pPr/>
            <a:r>
              <a:rPr b="0" sz="2000"/>
              <a:t>Modelled ~195 lung cancers/year at full scale (~130+ additional diagnoses/year)</a:t>
            </a:r>
          </a:p>
          <a:p>
            <a:pPr/>
            <a:r>
              <a:rPr b="0" sz="2000"/>
              <a:t>Order of ~544+ extra appointments/year on the way to diagnosis</a:t>
            </a:r>
          </a:p>
          <a:p>
            <a:pPr/>
            <a:r>
              <a:rPr b="0" sz="2000"/>
              <a:t>Plus years of surveillance imaging for treated patients</a:t>
            </a:r>
          </a:p>
          <a:p>
            <a:pPr/>
            <a:r>
              <a:rPr b="0" sz="2000"/>
              <a:t>Tower Hamlets comparator (Barts): 58.6% uptake, 56 cancers in first tranche</a:t>
            </a:r>
          </a:p>
          <a:p>
            <a:pPr/>
            <a:r>
              <a:rPr b="1" sz="2000"/>
              <a:t>Strategy: make today's pathway as efficient as possible now, while we plan capacity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Occupational lung cancer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200"/>
              <a:t>East London has a legacy of asbestos and occupational dust exposure</a:t>
            </a:r>
          </a:p>
          <a:p>
            <a:pPr/>
            <a:r>
              <a:rPr b="0" sz="2200"/>
              <a:t>Building a programme on occupational and environmental contributors to lung disease</a:t>
            </a:r>
          </a:p>
          <a:p>
            <a:pPr/>
            <a:r>
              <a:rPr b="0" sz="2200"/>
              <a:t>Linking with the mesothelioma pathway (St Bartholomew's) and APRALD asbestos work</a:t>
            </a:r>
          </a:p>
          <a:p>
            <a:pPr/>
            <a:r>
              <a:rPr b="0" sz="2200"/>
              <a:t>Using our open, reproducible analysis pipeline to embed research in routine care</a:t>
            </a:r>
          </a:p>
          <a:p>
            <a:pPr/>
            <a:r>
              <a:rPr b="1" sz="2200"/>
              <a:t>Aim: research that informs prevention and policy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for the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1" sz="2000"/>
              <a:t>1.  Best USC performance in London</a:t>
            </a:r>
          </a:p>
          <a:p>
            <a:pPr/>
            <a:r>
              <a:rPr b="0" sz="2000"/>
              <a:t>Sustain and extend our pathway gains — fastest, most patient-centred diagnosis</a:t>
            </a:r>
          </a:p>
          <a:p>
            <a:pPr/>
            <a:r>
              <a:rPr b="1" sz="2000"/>
              <a:t>2.  Smoking cessation</a:t>
            </a:r>
          </a:p>
          <a:p>
            <a:pPr/>
            <a:r>
              <a:rPr b="0" sz="2000"/>
              <a:t>Embed opt-out cessation across respiratory and cancer pathways</a:t>
            </a:r>
          </a:p>
          <a:p>
            <a:pPr/>
            <a:r>
              <a:rPr b="1" sz="2000"/>
              <a:t>3.  Research</a:t>
            </a:r>
          </a:p>
          <a:p>
            <a:pPr/>
            <a:r>
              <a:rPr b="0" sz="2000"/>
              <a:t>Occupational lung cancer, pathway science and screening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I'd ask of the 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/>
            <a:r>
              <a:rPr b="0" sz="2200"/>
              <a:t>Protect rapid-access CT capacity — and make 72h the default for vetted USC upgrades (currently 7+ days)</a:t>
            </a:r>
          </a:p>
          <a:p>
            <a:pPr/>
            <a:r>
              <a:rPr b="0" sz="2200"/>
              <a:t>Align diagnostic capacity with demand — histopathology turnaround and robotic bronchoscopy delays</a:t>
            </a:r>
          </a:p>
          <a:p>
            <a:pPr/>
            <a:r>
              <a:rPr b="0" sz="2200"/>
              <a:t>Support screening capacity planning now — for ~130+ extra cases per year</a:t>
            </a:r>
          </a:p>
          <a:p>
            <a:pPr/>
            <a:r>
              <a:rPr b="0" sz="2200"/>
              <a:t>Support service development — the lung cancer MDT SOP and an automated nodule registry</a:t>
            </a:r>
          </a:p>
          <a:p>
            <a:pPr/>
            <a:r>
              <a:rPr b="1" sz="2200"/>
              <a:t>Thank you — and thanks to Dr Bhowmik for the foundations we're building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